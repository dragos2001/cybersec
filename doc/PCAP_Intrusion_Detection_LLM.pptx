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0" y="3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 dirty="0"/>
              <a:t>PCAP-Based Intrusion Detection Using a Local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2100" dirty="0"/>
          </a:p>
          <a:p>
            <a:pPr marL="0" indent="0">
              <a:buNone/>
            </a:pPr>
            <a:endParaRPr lang="en-GB" sz="2100" dirty="0"/>
          </a:p>
          <a:p>
            <a:pPr marL="0" indent="0">
              <a:buNone/>
            </a:pPr>
            <a:endParaRPr lang="en-GB" sz="2100" dirty="0"/>
          </a:p>
          <a:p>
            <a:pPr marL="400050" lvl="1" indent="0">
              <a:buNone/>
            </a:pPr>
            <a:r>
              <a:rPr lang="en-GB" sz="2100" dirty="0"/>
              <a:t>						Bratfalean Dragos </a:t>
            </a:r>
          </a:p>
          <a:p>
            <a:pPr marL="400050" lvl="1" indent="0">
              <a:buNone/>
            </a:pPr>
            <a:r>
              <a:rPr lang="en-GB" sz="2100" dirty="0"/>
              <a:t>				</a:t>
            </a:r>
            <a:r>
              <a:rPr lang="en-GB" sz="2100" dirty="0" err="1"/>
              <a:t>Techincal</a:t>
            </a:r>
            <a:r>
              <a:rPr lang="en-GB" sz="2100" dirty="0"/>
              <a:t> University of Cluj-Napoca  </a:t>
            </a:r>
          </a:p>
          <a:p>
            <a:pPr marL="400050" lvl="1" indent="0">
              <a:buNone/>
            </a:pPr>
            <a:r>
              <a:rPr lang="en-GB" sz="2100" dirty="0"/>
              <a:t>							26.12.2025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GB" sz="4700"/>
              <a:t>Project Overview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GB" sz="2100"/>
              <a:t>Analyze network traffic captured in PCAP files</a:t>
            </a:r>
          </a:p>
          <a:p>
            <a:r>
              <a:rPr lang="en-GB" sz="2100"/>
              <a:t>Detect specific attacks: SYN Flood, Port Scan, DNS Exfiltration</a:t>
            </a:r>
          </a:p>
          <a:p>
            <a:r>
              <a:rPr lang="en-GB" sz="2100"/>
              <a:t>Hybrid approach: traditional packet analysis + local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GB" sz="470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GB" sz="1700"/>
              <a:t>Parse and analyze PCAP files</a:t>
            </a:r>
          </a:p>
          <a:p>
            <a:r>
              <a:rPr lang="en-GB" sz="1700"/>
              <a:t>Aggregate traffic by IPs, ports, DNS queries, and time</a:t>
            </a:r>
          </a:p>
          <a:p>
            <a:r>
              <a:rPr lang="en-GB" sz="1700"/>
              <a:t>Detect suspicious activity and classify using LLM</a:t>
            </a:r>
          </a:p>
          <a:p>
            <a:r>
              <a:rPr lang="en-GB" sz="1700"/>
              <a:t>Provide human-readable explanations for flagged traffic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GB" sz="4700"/>
              <a:t>Attack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GB" sz="1700"/>
              <a:t>🌊 SYN Flood: excessive TCP SYN packets, few ACKs</a:t>
            </a:r>
          </a:p>
          <a:p>
            <a:r>
              <a:rPr lang="en-GB" sz="1700"/>
              <a:t>🔍 Port Scan: many ports contacted from single IP</a:t>
            </a:r>
          </a:p>
          <a:p>
            <a:r>
              <a:rPr lang="en-GB" sz="1700"/>
              <a:t>🗄️DNS Exfiltration: long/frequent DNS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US" sz="4700"/>
              <a:t>Know-how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GB" sz="1700"/>
              <a:t>Used semester practical laboratories to:</a:t>
            </a:r>
          </a:p>
          <a:p>
            <a:r>
              <a:rPr lang="en-GB" sz="1700"/>
              <a:t>- Understand attack patterns</a:t>
            </a:r>
          </a:p>
          <a:p>
            <a:r>
              <a:rPr lang="en-GB" sz="1700"/>
              <a:t>- Select features and validate detection logic</a:t>
            </a:r>
          </a:p>
          <a:p>
            <a:r>
              <a:rPr lang="en-GB" sz="1700"/>
              <a:t>- Design LLM prompt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GB" sz="4700"/>
              <a:t>Role of the Local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GB" sz="1700"/>
              <a:t>Classifies aggregated traffic as:</a:t>
            </a:r>
          </a:p>
          <a:p>
            <a:pPr marL="457200" indent="-457200">
              <a:buFont typeface="+mj-lt"/>
              <a:buAutoNum type="alphaLcPeriod"/>
            </a:pPr>
            <a:r>
              <a:rPr lang="en-GB" sz="1700"/>
              <a:t>SYN Flood</a:t>
            </a:r>
          </a:p>
          <a:p>
            <a:pPr marL="457200" indent="-457200">
              <a:buFont typeface="+mj-lt"/>
              <a:buAutoNum type="alphaLcPeriod"/>
            </a:pPr>
            <a:r>
              <a:rPr lang="en-GB" sz="1700"/>
              <a:t>Port Scan</a:t>
            </a:r>
          </a:p>
          <a:p>
            <a:pPr marL="457200" indent="-457200">
              <a:buFont typeface="+mj-lt"/>
              <a:buAutoNum type="alphaLcPeriod"/>
            </a:pPr>
            <a:r>
              <a:rPr lang="en-GB" sz="1700"/>
              <a:t>DNS Exfiltration</a:t>
            </a:r>
          </a:p>
          <a:p>
            <a:pPr marL="457200" indent="-457200">
              <a:buFont typeface="+mj-lt"/>
              <a:buAutoNum type="alphaLcPeriod"/>
            </a:pPr>
            <a:r>
              <a:rPr lang="en-GB" sz="1700"/>
              <a:t>Benign</a:t>
            </a:r>
          </a:p>
          <a:p>
            <a:r>
              <a:rPr lang="en-GB" sz="1700"/>
              <a:t>Generates explanations for reasoning</a:t>
            </a:r>
          </a:p>
          <a:p>
            <a:r>
              <a:rPr lang="en-GB" sz="1700"/>
              <a:t>Runs entirely locally for data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GB" sz="3100"/>
              <a:t>System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GB" sz="1600"/>
              <a:t>PCAP File → Packet Parsing → Traffic Aggregation → Traffic Summarization → Local LLM → Alerts &amp; Explanations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F6E968AD-9270-5EB8-E567-2250C5CD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03" y="1903802"/>
            <a:ext cx="4221014" cy="28175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3200400" lvl="7" indent="0">
              <a:buNone/>
            </a:pPr>
            <a:r>
              <a:rPr lang="en-US" sz="2500" dirty="0"/>
              <a:t> </a:t>
            </a:r>
            <a:r>
              <a:rPr sz="2900" dirty="0"/>
              <a:t>Aggregate SYN/ACK counts, destination ports, DNS queries</a:t>
            </a:r>
            <a:endParaRPr lang="en-US" sz="2900" dirty="0"/>
          </a:p>
          <a:p>
            <a:endParaRPr lang="en-US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GB" sz="2400" dirty="0"/>
          </a:p>
          <a:p>
            <a:endParaRPr lang="en-GB" sz="2400" dirty="0"/>
          </a:p>
          <a:p>
            <a:endParaRPr sz="2900" dirty="0"/>
          </a:p>
          <a:p>
            <a:pPr marL="0" indent="0">
              <a:buNone/>
            </a:pPr>
            <a:r>
              <a:rPr sz="2900" dirty="0"/>
              <a:t>Summarize traffic behavior per source IP</a:t>
            </a:r>
            <a:endParaRPr lang="en-US" sz="29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sz="2000" dirty="0"/>
          </a:p>
          <a:p>
            <a:pPr marL="3200400" lvl="7" indent="0">
              <a:buNone/>
            </a:pPr>
            <a:r>
              <a:rPr lang="en-GB" sz="3500" dirty="0"/>
              <a:t>Feed summaries to LLM for classification and explanation</a:t>
            </a:r>
          </a:p>
          <a:p>
            <a:endParaRPr sz="2400" dirty="0"/>
          </a:p>
        </p:txBody>
      </p:sp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3CA07DB2-6C1D-2C4F-EE03-B0FAC00F8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7501"/>
            <a:ext cx="3167818" cy="1726694"/>
          </a:xfrm>
          <a:prstGeom prst="rect">
            <a:avLst/>
          </a:prstGeom>
        </p:spPr>
      </p:pic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2E2AA1E-B72D-D772-18D9-F94AFF1A6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907" y="3242148"/>
            <a:ext cx="3422153" cy="2015652"/>
          </a:xfrm>
          <a:prstGeom prst="rect">
            <a:avLst/>
          </a:prstGeom>
        </p:spPr>
      </p:pic>
      <p:pic>
        <p:nvPicPr>
          <p:cNvPr id="9" name="Picture 8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326F52A0-DB4A-426C-2A87-D50B1EC26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98396"/>
            <a:ext cx="2962600" cy="17849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GB" sz="4200"/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r>
              <a:rPr lang="en-GB" sz="1700"/>
              <a:t>List of detected traffic patterns</a:t>
            </a:r>
          </a:p>
          <a:p>
            <a:r>
              <a:rPr lang="en-GB" sz="1700"/>
              <a:t>Attack type / benign</a:t>
            </a:r>
          </a:p>
          <a:p>
            <a:r>
              <a:rPr lang="en-GB" sz="1700"/>
              <a:t>Confidence score</a:t>
            </a:r>
          </a:p>
          <a:p>
            <a:r>
              <a:rPr lang="en-GB" sz="1700"/>
              <a:t>Explanation from LLM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9C07E-7A6C-3F7B-A6E2-0C22F49E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49" y="4104786"/>
            <a:ext cx="3862707" cy="4731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Design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GB" sz="2100"/>
              <a:t>Rules + aggregation: efficient and reliable</a:t>
            </a:r>
          </a:p>
          <a:p>
            <a:r>
              <a:rPr lang="en-GB" sz="2100"/>
              <a:t>LLM: interpretable reasoning and classification</a:t>
            </a:r>
          </a:p>
          <a:p>
            <a:r>
              <a:rPr lang="en-GB" sz="2100"/>
              <a:t>Local execution ensures privacy and flexibility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GB" sz="470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GB" sz="1700"/>
              <a:t>Static thresholds and windows</a:t>
            </a:r>
          </a:p>
          <a:p>
            <a:r>
              <a:rPr lang="en-GB" sz="1700"/>
              <a:t>Dependent on quality of PCAP captures</a:t>
            </a:r>
          </a:p>
          <a:p>
            <a:r>
              <a:rPr lang="en-GB" sz="1700"/>
              <a:t>LLM outputs may vary slightly</a:t>
            </a:r>
          </a:p>
          <a:p>
            <a:r>
              <a:rPr lang="en-GB" sz="1700"/>
              <a:t>Not real-time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GB" sz="47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r>
              <a:rPr lang="en-GB" sz="1700"/>
              <a:t>Hybrid approach combines traditional analysis + LLM</a:t>
            </a:r>
          </a:p>
          <a:p>
            <a:r>
              <a:rPr lang="en-GB" sz="1700"/>
              <a:t>Detects SYN Flood, Port Scan, DNS Exfiltration</a:t>
            </a:r>
          </a:p>
          <a:p>
            <a:r>
              <a:rPr lang="en-GB" sz="1700"/>
              <a:t>Provides interpretable, privacy-preserving network attack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References / Acknowledgements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CEDD5C-240C-A28F-83DE-ED9B5C0ED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92641E0-318E-CD33-B452-DC17BC9E3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848449"/>
              </p:ext>
            </p:extLst>
          </p:nvPr>
        </p:nvGraphicFramePr>
        <p:xfrm>
          <a:off x="782722" y="3154680"/>
          <a:ext cx="7959529" cy="4263390"/>
        </p:xfrm>
        <a:graphic>
          <a:graphicData uri="http://schemas.openxmlformats.org/drawingml/2006/table">
            <a:tbl>
              <a:tblPr/>
              <a:tblGrid>
                <a:gridCol w="7959529">
                  <a:extLst>
                    <a:ext uri="{9D8B030D-6E8A-4147-A177-3AD203B41FA5}">
                      <a16:colId xmlns:a16="http://schemas.microsoft.com/office/drawing/2014/main" val="1099914822"/>
                    </a:ext>
                  </a:extLst>
                </a:gridCol>
              </a:tblGrid>
              <a:tr h="21111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b="0" i="0">
                          <a:effectLst/>
                          <a:latin typeface="Segoe UI" panose="020B0502040204020203" pitchFamily="34" charset="0"/>
                        </a:rPr>
                        <a:t>Scapy (Python packet manipulation library)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065175"/>
                  </a:ext>
                </a:extLst>
              </a:tr>
              <a:tr h="21111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b="0" i="0" dirty="0" err="1">
                          <a:effectLst/>
                          <a:latin typeface="Segoe UI" panose="020B0502040204020203" pitchFamily="34" charset="0"/>
                        </a:rPr>
                        <a:t>Ollama</a:t>
                      </a:r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 (Local LLM inference framework)</a:t>
                      </a:r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358213"/>
                  </a:ext>
                </a:extLst>
              </a:tr>
              <a:tr h="2549262">
                <a:tc>
                  <a:txBody>
                    <a:bodyPr/>
                    <a:lstStyle/>
                    <a:p>
                      <a:r>
                        <a:rPr lang="en-US" dirty="0"/>
                        <a:t>AI in Cybersecurity  “C2.Network Security Devices: Firewalls. IDS/IPS” –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AI in Cybersecurity  “C5.2.DNS” –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AI in Cybersecurity  “C6.1LLM_Cybersecurity” –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AI in Cybersecurity  “L10_1_DNS_readPCAP.ipynb” –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AI in Cybersecurity  “LaboratorSnortEng.pdf” – 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AI in Cybersecurity  “PortScanRule.pdf” – 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AI in Cybersecurity  “IDSclassification.pdf” –  Conf </a:t>
                      </a:r>
                      <a:r>
                        <a:rPr lang="en-US" dirty="0" err="1"/>
                        <a:t>dr.ing</a:t>
                      </a:r>
                      <a:r>
                        <a:rPr lang="en-US" dirty="0"/>
                        <a:t>. Daniel </a:t>
                      </a:r>
                      <a:r>
                        <a:rPr lang="en-US" dirty="0" err="1"/>
                        <a:t>Zinca</a:t>
                      </a: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GB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6874958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442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PCAP-Based Intrusion Detection Using a Local LLM</vt:lpstr>
      <vt:lpstr>Project Overview</vt:lpstr>
      <vt:lpstr>Project Objectives</vt:lpstr>
      <vt:lpstr>Attack Types</vt:lpstr>
      <vt:lpstr>Know-how</vt:lpstr>
      <vt:lpstr>Role of the Local LLM</vt:lpstr>
      <vt:lpstr>System Architecture</vt:lpstr>
      <vt:lpstr>Detection Pipeline</vt:lpstr>
      <vt:lpstr>Output</vt:lpstr>
      <vt:lpstr>Design Rationale</vt:lpstr>
      <vt:lpstr>Limitations</vt:lpstr>
      <vt:lpstr>Conclusion</vt:lpstr>
      <vt:lpstr>References / Acknowledgements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Dragos Bratfalean</cp:lastModifiedBy>
  <cp:revision>9</cp:revision>
  <dcterms:created xsi:type="dcterms:W3CDTF">2013-01-27T09:14:16Z</dcterms:created>
  <dcterms:modified xsi:type="dcterms:W3CDTF">2025-12-26T11:35:59Z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2025-12-26T10:51:13Z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9a3c075a-2c36-4665-90dd-903e4ef9cee7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